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4" r:id="rId7"/>
    <p:sldId id="262" r:id="rId8"/>
    <p:sldId id="263" r:id="rId9"/>
    <p:sldId id="265" r:id="rId10"/>
    <p:sldId id="258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AA07270-EAAC-405B-8050-C1BD9195A133}">
          <p14:sldIdLst>
            <p14:sldId id="256"/>
            <p14:sldId id="257"/>
            <p14:sldId id="259"/>
            <p14:sldId id="260"/>
            <p14:sldId id="261"/>
            <p14:sldId id="264"/>
          </p14:sldIdLst>
        </p14:section>
        <p14:section name="未命名的章節" id="{6A430EBF-81B6-4116-AA81-0F6B2CA45B02}">
          <p14:sldIdLst>
            <p14:sldId id="262"/>
            <p14:sldId id="263"/>
            <p14:sldId id="265"/>
          </p14:sldIdLst>
        </p14:section>
        <p14:section name="未命名的章節" id="{2A6CD4F2-1BF2-4D39-A8CE-DEE52BB2F2C4}">
          <p14:sldIdLst>
            <p14:sldId id="258"/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1857" autoAdjust="0"/>
  </p:normalViewPr>
  <p:slideViewPr>
    <p:cSldViewPr snapToGrid="0">
      <p:cViewPr>
        <p:scale>
          <a:sx n="125" d="100"/>
          <a:sy n="125" d="100"/>
        </p:scale>
        <p:origin x="158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Avg PSNR (dB)</c:v>
                </c:pt>
              </c:strCache>
            </c:strRef>
          </c:tx>
          <c:spPr>
            <a:ln w="28575" cap="rnd">
              <a:noFill/>
              <a:round/>
            </a:ln>
            <a:effectLst>
              <a:outerShdw blurRad="50800" dist="50800" dir="5400000" algn="ctr" rotWithShape="0">
                <a:schemeClr val="tx1"/>
              </a:outerShdw>
            </a:effectLst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c:spPr>
          </c:marker>
          <c:dLbls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xVal>
            <c:strRef>
              <c:f>工作表1!$A$2:$A$4</c:f>
              <c:strCache>
                <c:ptCount val="3"/>
                <c:pt idx="0">
                  <c:v>FullSearch</c:v>
                </c:pt>
                <c:pt idx="1">
                  <c:v>HEXDS</c:v>
                </c:pt>
                <c:pt idx="2">
                  <c:v>TSS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26.43</c:v>
                </c:pt>
                <c:pt idx="1">
                  <c:v>24.04</c:v>
                </c:pt>
                <c:pt idx="2">
                  <c:v>23.59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B7B-4375-B5C2-D980C4A9A4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7975791"/>
        <c:axId val="567971951"/>
      </c:scatterChart>
      <c:valAx>
        <c:axId val="567975791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567971951"/>
        <c:crosses val="autoZero"/>
        <c:crossBetween val="midCat"/>
      </c:valAx>
      <c:valAx>
        <c:axId val="5679719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797579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Avg Checks</c:v>
                </c:pt>
              </c:strCache>
            </c:strRef>
          </c:tx>
          <c:spPr>
            <a:ln w="28575" cap="rnd">
              <a:noFill/>
              <a:round/>
            </a:ln>
            <a:effectLst>
              <a:outerShdw blurRad="50800" dist="50800" dir="5400000" algn="ctr" rotWithShape="0">
                <a:schemeClr val="tx1"/>
              </a:outerShdw>
            </a:effectLst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>
                <a:outerShdw blurRad="50800" dist="50800" dir="5400000" algn="ctr" rotWithShape="0">
                  <a:schemeClr val="tx1"/>
                </a:outerShdw>
              </a:effectLst>
            </c:spPr>
          </c:marker>
          <c:dLbls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xVal>
            <c:strRef>
              <c:f>工作表1!$A$2:$A$4</c:f>
              <c:strCache>
                <c:ptCount val="3"/>
                <c:pt idx="0">
                  <c:v>FullSearch</c:v>
                </c:pt>
                <c:pt idx="1">
                  <c:v>HEXDS</c:v>
                </c:pt>
                <c:pt idx="2">
                  <c:v>TSS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4225</c:v>
                </c:pt>
                <c:pt idx="1">
                  <c:v>18.2</c:v>
                </c:pt>
                <c:pt idx="2">
                  <c:v>25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9F2-4499-91BB-EC08BFD5BD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7975791"/>
        <c:axId val="567971951"/>
      </c:scatterChart>
      <c:valAx>
        <c:axId val="567975791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567971951"/>
        <c:crosses val="autoZero"/>
        <c:crossBetween val="midCat"/>
      </c:valAx>
      <c:valAx>
        <c:axId val="5679719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7975791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C5A62-626C-4CE4-BA3D-CAEF9CD92A73}" type="datetimeFigureOut">
              <a:rPr lang="zh-TW" altLang="en-US" smtClean="0"/>
              <a:t>2025/12/25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339E6-983F-41A1-AC65-FAD592CFDB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097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教授、各位同學大家好，我是紀國勛。</a:t>
            </a:r>
            <a:endParaRPr lang="en-US" altLang="zh-TW" dirty="0"/>
          </a:p>
          <a:p>
            <a:r>
              <a:rPr lang="zh-TW" altLang="en-US" dirty="0"/>
              <a:t>我的題目是</a:t>
            </a:r>
            <a:r>
              <a:rPr lang="en-US" altLang="zh-TW" dirty="0"/>
              <a:t>Hexagon-Diamond Search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0321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為什麼會選這個演算法呢</a:t>
            </a:r>
            <a:endParaRPr lang="en-US" altLang="zh-TW" dirty="0"/>
          </a:p>
          <a:p>
            <a:r>
              <a:rPr lang="zh-TW" altLang="en-US" dirty="0"/>
              <a:t>因為他在</a:t>
            </a:r>
            <a:r>
              <a:rPr lang="en-US" altLang="zh-TW" dirty="0"/>
              <a:t>PSNR</a:t>
            </a:r>
            <a:r>
              <a:rPr lang="zh-TW" altLang="en-US" dirty="0"/>
              <a:t>比</a:t>
            </a:r>
            <a:r>
              <a:rPr lang="en-US" altLang="zh-TW" dirty="0"/>
              <a:t>TSS</a:t>
            </a:r>
            <a:r>
              <a:rPr lang="zh-TW" altLang="en-US" dirty="0"/>
              <a:t>還要高</a:t>
            </a:r>
            <a:endParaRPr lang="en-US" altLang="zh-TW" dirty="0"/>
          </a:p>
          <a:p>
            <a:r>
              <a:rPr lang="en-US" altLang="zh-TW" dirty="0"/>
              <a:t>Check Point </a:t>
            </a:r>
            <a:r>
              <a:rPr lang="zh-TW" altLang="en-US" dirty="0"/>
              <a:t>也比</a:t>
            </a:r>
            <a:r>
              <a:rPr lang="en-US" altLang="zh-TW" dirty="0"/>
              <a:t>TSS</a:t>
            </a:r>
            <a:r>
              <a:rPr lang="zh-TW" altLang="en-US" dirty="0"/>
              <a:t>還要少</a:t>
            </a:r>
            <a:endParaRPr lang="en-US" altLang="zh-TW" dirty="0"/>
          </a:p>
          <a:p>
            <a:r>
              <a:rPr lang="zh-TW" altLang="en-US" dirty="0"/>
              <a:t>這數據是我用</a:t>
            </a:r>
            <a:r>
              <a:rPr lang="en-US" altLang="zh-TW" dirty="0"/>
              <a:t>Python</a:t>
            </a:r>
            <a:r>
              <a:rPr lang="zh-TW" altLang="en-US" dirty="0"/>
              <a:t>統計出來的</a:t>
            </a:r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2415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我是基於</a:t>
            </a:r>
            <a:r>
              <a:rPr lang="en-US" altLang="zh-TW" dirty="0" err="1"/>
              <a:t>SkyWater</a:t>
            </a:r>
            <a:r>
              <a:rPr lang="en-US" altLang="zh-TW" dirty="0"/>
              <a:t> 130nm </a:t>
            </a:r>
            <a:r>
              <a:rPr lang="zh-TW" altLang="en-US" dirty="0"/>
              <a:t>製程的設計，目標時脈 </a:t>
            </a:r>
            <a:r>
              <a:rPr lang="en-US" altLang="zh-TW" dirty="0"/>
              <a:t>50MHz</a:t>
            </a:r>
            <a:r>
              <a:rPr lang="zh-TW" altLang="en-US" dirty="0"/>
              <a:t>。 針對的搜尋範圍 </a:t>
            </a:r>
            <a:r>
              <a:rPr lang="en-US" altLang="zh-TW" dirty="0"/>
              <a:t>(Search Range) </a:t>
            </a:r>
            <a:r>
              <a:rPr lang="zh-TW" altLang="en-US" dirty="0"/>
              <a:t>為正負 </a:t>
            </a:r>
            <a:r>
              <a:rPr lang="en-US" altLang="zh-TW" dirty="0"/>
              <a:t>7</a:t>
            </a:r>
            <a:r>
              <a:rPr lang="zh-TW" altLang="en-US" dirty="0"/>
              <a:t>，區塊大小 </a:t>
            </a:r>
            <a:r>
              <a:rPr lang="en-US" altLang="zh-TW" dirty="0"/>
              <a:t>(Block Size) </a:t>
            </a:r>
            <a:r>
              <a:rPr lang="zh-TW" altLang="en-US" dirty="0"/>
              <a:t>則支援到正負 </a:t>
            </a:r>
            <a:r>
              <a:rPr lang="en-US" altLang="zh-TW" dirty="0"/>
              <a:t>32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190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左上角會紀錄目前的中心位置，隨著搜尋進行，如果發現不是這的點比較好，這裡的值就會被更新，中心就會移動過去。</a:t>
            </a:r>
          </a:p>
          <a:p>
            <a:r>
              <a:rPr lang="zh-TW" altLang="en-US" dirty="0"/>
              <a:t>右上角區塊內的相對座標</a:t>
            </a:r>
            <a:endParaRPr lang="en-US" altLang="zh-TW" dirty="0"/>
          </a:p>
          <a:p>
            <a:r>
              <a:rPr lang="zh-TW" altLang="en-US" dirty="0"/>
              <a:t>右下角計算 </a:t>
            </a:r>
            <a:r>
              <a:rPr lang="en-US" altLang="zh-TW" dirty="0"/>
              <a:t>SAD (</a:t>
            </a:r>
            <a:r>
              <a:rPr lang="zh-TW" altLang="en-US" dirty="0"/>
              <a:t>誤差值），即時比對：有沒有更小的</a:t>
            </a:r>
            <a:r>
              <a:rPr lang="en-US" altLang="zh-TW" dirty="0"/>
              <a:t> SAD</a:t>
            </a:r>
          </a:p>
          <a:p>
            <a:r>
              <a:rPr lang="zh-TW" altLang="en-US" dirty="0"/>
              <a:t>左下角會分兩種狀況</a:t>
            </a:r>
            <a:endParaRPr lang="en-US" altLang="zh-TW" dirty="0"/>
          </a:p>
          <a:p>
            <a:r>
              <a:rPr lang="en-US" altLang="zh-TW" dirty="0"/>
              <a:t>1.x!=y</a:t>
            </a:r>
            <a:r>
              <a:rPr lang="zh-TW" altLang="en-US" dirty="0"/>
              <a:t>，最小</a:t>
            </a:r>
            <a:r>
              <a:rPr lang="en-US" altLang="zh-TW" dirty="0"/>
              <a:t>sad</a:t>
            </a:r>
            <a:r>
              <a:rPr lang="zh-TW" altLang="en-US" dirty="0"/>
              <a:t>不是中心，就會往下一個位置搜尋</a:t>
            </a:r>
            <a:endParaRPr lang="en-US" altLang="zh-TW" dirty="0"/>
          </a:p>
          <a:p>
            <a:r>
              <a:rPr lang="en-US" altLang="zh-TW" dirty="0"/>
              <a:t>2.x=y</a:t>
            </a:r>
            <a:r>
              <a:rPr lang="zh-TW" altLang="en-US" dirty="0"/>
              <a:t>，最小</a:t>
            </a:r>
            <a:r>
              <a:rPr lang="en-US" altLang="zh-TW" dirty="0"/>
              <a:t>sad</a:t>
            </a:r>
            <a:r>
              <a:rPr lang="zh-TW" altLang="en-US" dirty="0"/>
              <a:t>就是中心點，切會到</a:t>
            </a:r>
            <a:r>
              <a:rPr lang="en-US" altLang="zh-TW" dirty="0"/>
              <a:t>smaller</a:t>
            </a:r>
          </a:p>
          <a:p>
            <a:r>
              <a:rPr lang="zh-TW" altLang="en-US" dirty="0"/>
              <a:t>下一頁會更清楚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0446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這張就是實際的搜尋路徑圖</a:t>
            </a:r>
            <a:endParaRPr lang="en-US" altLang="zh-TW" dirty="0"/>
          </a:p>
          <a:p>
            <a:r>
              <a:rPr lang="zh-TW" altLang="en-US" dirty="0"/>
              <a:t>一開始會計算中心的</a:t>
            </a:r>
            <a:r>
              <a:rPr lang="en-US" altLang="zh-TW" dirty="0"/>
              <a:t>SAD</a:t>
            </a:r>
            <a:r>
              <a:rPr lang="zh-TW" altLang="en-US" dirty="0"/>
              <a:t>接著計算周圍的</a:t>
            </a:r>
            <a:r>
              <a:rPr lang="en-US" altLang="zh-TW" dirty="0"/>
              <a:t>SAD</a:t>
            </a:r>
          </a:p>
          <a:p>
            <a:r>
              <a:rPr lang="zh-TW" altLang="en-US" dirty="0"/>
              <a:t>如果發現周圍的</a:t>
            </a:r>
            <a:r>
              <a:rPr lang="en-US" altLang="zh-TW" dirty="0"/>
              <a:t>SAD</a:t>
            </a:r>
            <a:r>
              <a:rPr lang="zh-TW" altLang="en-US" dirty="0"/>
              <a:t>比較小，中心位置就會更新</a:t>
            </a:r>
            <a:endParaRPr lang="en-US" altLang="zh-TW" dirty="0"/>
          </a:p>
          <a:p>
            <a:r>
              <a:rPr lang="zh-TW" altLang="en-US" dirty="0"/>
              <a:t>直到最小</a:t>
            </a:r>
            <a:r>
              <a:rPr lang="en-US" altLang="zh-TW" dirty="0"/>
              <a:t>SAD</a:t>
            </a:r>
            <a:r>
              <a:rPr lang="zh-TW" altLang="en-US" dirty="0"/>
              <a:t>是中心點</a:t>
            </a:r>
            <a:endParaRPr lang="en-US" altLang="zh-TW" dirty="0"/>
          </a:p>
          <a:p>
            <a:r>
              <a:rPr lang="zh-TW" altLang="en-US" dirty="0"/>
              <a:t>就會切換到小菱形搜尋</a:t>
            </a:r>
            <a:endParaRPr lang="en-US" altLang="zh-TW" dirty="0"/>
          </a:p>
          <a:p>
            <a:r>
              <a:rPr lang="zh-TW" altLang="en-US" dirty="0"/>
              <a:t>尋找最小</a:t>
            </a:r>
            <a:r>
              <a:rPr lang="en-US" altLang="zh-TW" dirty="0"/>
              <a:t>SAD</a:t>
            </a:r>
          </a:p>
          <a:p>
            <a:endParaRPr lang="en-US" altLang="zh-TW" dirty="0"/>
          </a:p>
          <a:p>
            <a:r>
              <a:rPr lang="zh-TW" altLang="en-US" dirty="0"/>
              <a:t>更新中心的時候 因為其中三的點已經計算過了</a:t>
            </a:r>
            <a:endParaRPr lang="en-US" altLang="zh-TW" dirty="0"/>
          </a:p>
          <a:p>
            <a:r>
              <a:rPr lang="zh-TW" altLang="en-US" dirty="0"/>
              <a:t>所以只要計算其他三個位置就好了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0114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這邊是講這個搜尋法的效果</a:t>
            </a:r>
            <a:endParaRPr lang="en-US" altLang="zh-TW" dirty="0"/>
          </a:p>
          <a:p>
            <a:r>
              <a:rPr lang="zh-TW" altLang="en-US" dirty="0"/>
              <a:t>可以看到</a:t>
            </a:r>
            <a:r>
              <a:rPr lang="en-US" altLang="zh-TW" dirty="0"/>
              <a:t>FS </a:t>
            </a:r>
            <a:r>
              <a:rPr lang="zh-TW" altLang="en-US" dirty="0"/>
              <a:t>與</a:t>
            </a:r>
            <a:r>
              <a:rPr lang="en-US" altLang="zh-TW" dirty="0"/>
              <a:t> HEXDS</a:t>
            </a:r>
            <a:r>
              <a:rPr lang="zh-TW" altLang="en-US" dirty="0"/>
              <a:t>兩者幾乎無差異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554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這張圖是我已經用</a:t>
            </a:r>
            <a:r>
              <a:rPr lang="en-US" altLang="zh-TW" dirty="0"/>
              <a:t>python</a:t>
            </a:r>
            <a:r>
              <a:rPr lang="zh-TW" altLang="en-US" dirty="0"/>
              <a:t>驗證並產生</a:t>
            </a:r>
            <a:r>
              <a:rPr lang="en-US" altLang="zh-TW" dirty="0" err="1"/>
              <a:t>goden</a:t>
            </a:r>
            <a:r>
              <a:rPr lang="en-US" altLang="zh-TW" dirty="0"/>
              <a:t> patten</a:t>
            </a:r>
          </a:p>
          <a:p>
            <a:r>
              <a:rPr lang="zh-TW" altLang="en-US" dirty="0"/>
              <a:t>驗證的</a:t>
            </a:r>
            <a:r>
              <a:rPr lang="en-US" altLang="zh-TW" dirty="0"/>
              <a:t>RTL </a:t>
            </a:r>
            <a:r>
              <a:rPr lang="zh-TW" altLang="en-US" dirty="0"/>
              <a:t>的驗證結果，影片是</a:t>
            </a:r>
            <a:r>
              <a:rPr lang="en-US" altLang="zh-TW" dirty="0"/>
              <a:t>garden</a:t>
            </a:r>
          </a:p>
          <a:p>
            <a:r>
              <a:rPr lang="zh-TW" altLang="en-US" dirty="0"/>
              <a:t>底下的圖是第一筆計算結果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然後在經過一系列的驗證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6474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這個就是我</a:t>
            </a:r>
            <a:r>
              <a:rPr lang="en-US" altLang="zh-TW" dirty="0"/>
              <a:t>APR</a:t>
            </a:r>
            <a:r>
              <a:rPr lang="zh-TW" altLang="en-US" dirty="0"/>
              <a:t>後的結果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97578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這邊是我參考的</a:t>
            </a:r>
            <a:r>
              <a:rPr lang="en-US" altLang="zh-TW" dirty="0"/>
              <a:t>paper</a:t>
            </a:r>
          </a:p>
          <a:p>
            <a:r>
              <a:rPr lang="zh-TW" altLang="en-US" dirty="0"/>
              <a:t>底下是我實做的相關過程</a:t>
            </a:r>
            <a:endParaRPr lang="en-US" altLang="zh-TW" dirty="0"/>
          </a:p>
          <a:p>
            <a:r>
              <a:rPr lang="zh-TW" altLang="en-US" dirty="0"/>
              <a:t>除了課程上的驗證以外我也有移植到</a:t>
            </a:r>
            <a:r>
              <a:rPr lang="en-US" altLang="zh-TW" dirty="0"/>
              <a:t>FPGA</a:t>
            </a:r>
            <a:r>
              <a:rPr lang="zh-TW" altLang="en-US" dirty="0"/>
              <a:t>做驗證，也有完成測試在</a:t>
            </a:r>
            <a:r>
              <a:rPr lang="en-US" altLang="zh-TW" dirty="0"/>
              <a:t>git</a:t>
            </a:r>
            <a:r>
              <a:rPr lang="zh-TW" altLang="en-US" dirty="0"/>
              <a:t>上都可以找到參考資料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0781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339E6-983F-41A1-AC65-FAD592CFDB5C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2785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CA5291-D426-05AE-396E-F0A0EE0E67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HEXDS</a:t>
            </a:r>
            <a:br>
              <a:rPr lang="en-US" altLang="zh-TW" dirty="0"/>
            </a:br>
            <a:r>
              <a:rPr lang="en-US" altLang="zh-TW" dirty="0"/>
              <a:t>Hexagon-Diamond Search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B6E82FB-DEAE-ABA6-D008-2DD1EDCF35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1600" y="4438650"/>
            <a:ext cx="3975634" cy="1352550"/>
          </a:xfrm>
        </p:spPr>
        <p:txBody>
          <a:bodyPr/>
          <a:lstStyle/>
          <a:p>
            <a:pPr algn="l"/>
            <a:r>
              <a:rPr lang="zh-TW" altLang="en-US" dirty="0"/>
              <a:t>課程：</a:t>
            </a:r>
            <a:r>
              <a:rPr lang="zh-TW" altLang="en-US" dirty="0">
                <a:effectLst/>
              </a:rPr>
              <a:t>視訊壓縮智產元件設計</a:t>
            </a:r>
            <a:endParaRPr lang="en-US" altLang="zh-TW" dirty="0">
              <a:effectLst/>
            </a:endParaRPr>
          </a:p>
          <a:p>
            <a:pPr algn="l"/>
            <a:r>
              <a:rPr lang="zh-TW" altLang="en-US" dirty="0">
                <a:effectLst/>
              </a:rPr>
              <a:t>姓名：紀國勛</a:t>
            </a:r>
            <a:endParaRPr lang="en-US" altLang="zh-TW" dirty="0">
              <a:effectLst/>
            </a:endParaRPr>
          </a:p>
          <a:p>
            <a:pPr algn="l"/>
            <a:r>
              <a:rPr lang="zh-TW" altLang="en-US" dirty="0">
                <a:effectLst/>
              </a:rPr>
              <a:t>學號：</a:t>
            </a:r>
            <a:r>
              <a:rPr lang="en-US" altLang="zh-TW" dirty="0">
                <a:effectLst/>
              </a:rPr>
              <a:t>5113064403</a:t>
            </a:r>
            <a:endParaRPr lang="zh-TW" alt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7926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B2ECAC-4DA9-8D83-1E87-5DD1109B3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為何選擇</a:t>
            </a:r>
            <a:r>
              <a:rPr lang="en-US" altLang="zh-TW" dirty="0"/>
              <a:t>HEXDS</a:t>
            </a:r>
            <a:r>
              <a:rPr lang="zh-TW" altLang="en-US" dirty="0"/>
              <a:t>演算法</a:t>
            </a:r>
            <a:br>
              <a:rPr lang="en-US" altLang="zh-TW" dirty="0"/>
            </a:br>
            <a:r>
              <a:rPr lang="zh-TW" altLang="en-US" sz="2000" dirty="0"/>
              <a:t>在影像品質與運算複雜度提供最佳的平衡點</a:t>
            </a:r>
            <a:endParaRPr lang="zh-TW" altLang="en-US" dirty="0"/>
          </a:p>
        </p:txBody>
      </p:sp>
      <p:graphicFrame>
        <p:nvGraphicFramePr>
          <p:cNvPr id="13" name="內容版面配置區 12">
            <a:extLst>
              <a:ext uri="{FF2B5EF4-FFF2-40B4-BE49-F238E27FC236}">
                <a16:creationId xmlns:a16="http://schemas.microsoft.com/office/drawing/2014/main" id="{A84F7932-9070-DD4E-4366-65B00906FD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309157"/>
              </p:ext>
            </p:extLst>
          </p:nvPr>
        </p:nvGraphicFramePr>
        <p:xfrm>
          <a:off x="1141413" y="2667000"/>
          <a:ext cx="4954587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內容版面配置區 12">
            <a:extLst>
              <a:ext uri="{FF2B5EF4-FFF2-40B4-BE49-F238E27FC236}">
                <a16:creationId xmlns:a16="http://schemas.microsoft.com/office/drawing/2014/main" id="{44A3FD10-70A0-2325-2F37-A20C70ED00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1172941"/>
              </p:ext>
            </p:extLst>
          </p:nvPr>
        </p:nvGraphicFramePr>
        <p:xfrm>
          <a:off x="6092824" y="2667000"/>
          <a:ext cx="4954587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317602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DE3959-BA1C-A06C-57ED-FB03B2C64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4954587" cy="1905000"/>
          </a:xfrm>
        </p:spPr>
        <p:txBody>
          <a:bodyPr/>
          <a:lstStyle/>
          <a:p>
            <a:r>
              <a:rPr lang="zh-TW" altLang="en-US" dirty="0"/>
              <a:t>設計規格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055F37-0989-8C04-EDAA-1A8B2242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4954587" cy="3124201"/>
          </a:xfrm>
        </p:spPr>
        <p:txBody>
          <a:bodyPr/>
          <a:lstStyle/>
          <a:p>
            <a:r>
              <a:rPr lang="zh-TW" altLang="en-US" dirty="0"/>
              <a:t>算法：</a:t>
            </a:r>
            <a:r>
              <a:rPr lang="en-US" altLang="zh-TW" dirty="0"/>
              <a:t>HEXDS</a:t>
            </a:r>
          </a:p>
          <a:p>
            <a:r>
              <a:rPr lang="zh-TW" altLang="en-US" dirty="0"/>
              <a:t>製程：</a:t>
            </a:r>
            <a:r>
              <a:rPr lang="en-US" altLang="zh-TW" dirty="0" err="1"/>
              <a:t>SkyWater</a:t>
            </a:r>
            <a:r>
              <a:rPr lang="en-US" altLang="zh-TW" dirty="0"/>
              <a:t> 130nm</a:t>
            </a:r>
          </a:p>
          <a:p>
            <a:r>
              <a:rPr lang="zh-TW" altLang="en-US" dirty="0"/>
              <a:t>時脈：</a:t>
            </a:r>
            <a:r>
              <a:rPr lang="en-US" altLang="zh-TW" dirty="0"/>
              <a:t>50MHz</a:t>
            </a:r>
          </a:p>
          <a:p>
            <a:r>
              <a:rPr lang="zh-TW" altLang="en-US" dirty="0"/>
              <a:t>區塊大小：</a:t>
            </a:r>
            <a:r>
              <a:rPr lang="en-US" altLang="zh-TW" dirty="0"/>
              <a:t>+32~-32</a:t>
            </a:r>
          </a:p>
          <a:p>
            <a:r>
              <a:rPr lang="zh-TW" altLang="en-US" dirty="0"/>
              <a:t>搜尋範圍：</a:t>
            </a:r>
            <a:r>
              <a:rPr lang="en-US" altLang="zh-TW" dirty="0"/>
              <a:t>+7~-7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F6898BD-5967-A5B6-E3BC-B84B59C0B9D8}"/>
              </a:ext>
            </a:extLst>
          </p:cNvPr>
          <p:cNvSpPr txBox="1">
            <a:spLocks/>
          </p:cNvSpPr>
          <p:nvPr/>
        </p:nvSpPr>
        <p:spPr>
          <a:xfrm>
            <a:off x="6096000" y="609600"/>
            <a:ext cx="4954587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dirty="0"/>
              <a:t>設計工具</a:t>
            </a: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FC1DD81-2A6B-A24A-EEB9-B6DB469101C6}"/>
              </a:ext>
            </a:extLst>
          </p:cNvPr>
          <p:cNvSpPr txBox="1">
            <a:spLocks/>
          </p:cNvSpPr>
          <p:nvPr/>
        </p:nvSpPr>
        <p:spPr>
          <a:xfrm>
            <a:off x="6096000" y="2666999"/>
            <a:ext cx="4954587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模擬器：</a:t>
            </a:r>
            <a:r>
              <a:rPr lang="en-US" altLang="zh-TW" dirty="0" err="1"/>
              <a:t>iVerilog</a:t>
            </a:r>
            <a:endParaRPr lang="en-US" altLang="zh-TW" dirty="0"/>
          </a:p>
          <a:p>
            <a:r>
              <a:rPr lang="zh-TW" altLang="en-US" dirty="0"/>
              <a:t>示波器：</a:t>
            </a:r>
            <a:r>
              <a:rPr lang="en-US" altLang="zh-TW" dirty="0" err="1"/>
              <a:t>GTKWave</a:t>
            </a:r>
            <a:endParaRPr lang="en-US" altLang="zh-TW" dirty="0"/>
          </a:p>
          <a:p>
            <a:r>
              <a:rPr lang="en-US" altLang="zh-TW" dirty="0"/>
              <a:t>APR</a:t>
            </a:r>
            <a:r>
              <a:rPr lang="zh-TW" altLang="en-US" dirty="0"/>
              <a:t>工具：</a:t>
            </a:r>
            <a:r>
              <a:rPr lang="en-US" altLang="zh-TW" dirty="0" err="1"/>
              <a:t>OpenLane</a:t>
            </a:r>
            <a:r>
              <a:rPr lang="en-US" altLang="zh-TW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5798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E2B77A-13D9-ECCC-FCCA-B4091A64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778136"/>
          </a:xfrm>
        </p:spPr>
        <p:txBody>
          <a:bodyPr/>
          <a:lstStyle/>
          <a:p>
            <a:r>
              <a:rPr lang="zh-TW" altLang="en-US" dirty="0"/>
              <a:t>系統架構圖</a:t>
            </a:r>
          </a:p>
        </p:txBody>
      </p:sp>
      <p:pic>
        <p:nvPicPr>
          <p:cNvPr id="5" name="內容版面配置區 4" descr="一張含有 圖表, 文字, 方案, 工程製圖 的圖片&#10;&#10;AI 產生的內容可能不正確。">
            <a:extLst>
              <a:ext uri="{FF2B5EF4-FFF2-40B4-BE49-F238E27FC236}">
                <a16:creationId xmlns:a16="http://schemas.microsoft.com/office/drawing/2014/main" id="{52046154-381F-748B-5301-5E20A7BC5D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529476" y="1521126"/>
            <a:ext cx="5133048" cy="47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92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4897DD-F209-8E09-538A-C0B831AC4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HEXDS</a:t>
            </a:r>
            <a:r>
              <a:rPr lang="zh-TW" altLang="en-US" dirty="0"/>
              <a:t>搜尋控制器</a:t>
            </a:r>
          </a:p>
        </p:txBody>
      </p:sp>
      <p:pic>
        <p:nvPicPr>
          <p:cNvPr id="5" name="內容版面配置區 4" descr="一張含有 文字, 圖表, 行, 方案 的圖片&#10;&#10;AI 產生的內容可能不正確。">
            <a:extLst>
              <a:ext uri="{FF2B5EF4-FFF2-40B4-BE49-F238E27FC236}">
                <a16:creationId xmlns:a16="http://schemas.microsoft.com/office/drawing/2014/main" id="{4E580D1D-D269-0233-141D-A1AC28B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41414" y="2622176"/>
            <a:ext cx="9661478" cy="362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391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C4350-EDA8-0FFA-1224-E4831E4F0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品質驗證：低運算成本維持高品質影像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829D85E-1119-7754-1B77-B3EBED257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214442" y="3067612"/>
            <a:ext cx="3352800" cy="2286000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AA7F782-EDD6-69CE-C4DB-5DC760A1E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3" y="3067612"/>
            <a:ext cx="3352800" cy="2286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0256BD2-CF51-8ECC-5D54-0EE0CBE08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927" y="3087964"/>
            <a:ext cx="3352800" cy="228600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076F3E5F-4847-3402-EF2C-0B005F08D7B2}"/>
              </a:ext>
            </a:extLst>
          </p:cNvPr>
          <p:cNvSpPr txBox="1"/>
          <p:nvPr/>
        </p:nvSpPr>
        <p:spPr>
          <a:xfrm>
            <a:off x="1642928" y="5695395"/>
            <a:ext cx="9422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FS</a:t>
            </a:r>
            <a:r>
              <a:rPr lang="zh-TW" altLang="en-US" dirty="0"/>
              <a:t>重建畫面                             </a:t>
            </a:r>
            <a:r>
              <a:rPr lang="en-US" altLang="zh-TW" dirty="0"/>
              <a:t>HEXDS                                             Full Search</a:t>
            </a:r>
          </a:p>
          <a:p>
            <a:r>
              <a:rPr lang="zh-TW" altLang="en-US" dirty="0"/>
              <a:t>本設計產生的重建畫面誤差，在視覺上</a:t>
            </a:r>
            <a:r>
              <a:rPr lang="en-US" altLang="zh-TW" dirty="0"/>
              <a:t>Full Search</a:t>
            </a:r>
            <a:r>
              <a:rPr lang="zh-TW" altLang="en-US" dirty="0"/>
              <a:t>演算法幾乎無差異。</a:t>
            </a:r>
          </a:p>
        </p:txBody>
      </p:sp>
    </p:spTree>
    <p:extLst>
      <p:ext uri="{BB962C8B-B14F-4D97-AF65-F5344CB8AC3E}">
        <p14:creationId xmlns:p14="http://schemas.microsoft.com/office/powerpoint/2010/main" val="2581501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1F00A0AB-7709-C4E1-2C9C-0AF6530B0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946673"/>
          </a:xfrm>
        </p:spPr>
        <p:txBody>
          <a:bodyPr/>
          <a:lstStyle/>
          <a:p>
            <a:r>
              <a:rPr lang="en-US" altLang="zh-TW" dirty="0"/>
              <a:t>RTL coding and Verification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5E34AB1F-B9D2-9DC7-BCA4-AD946949C8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64763"/>
          <a:stretch>
            <a:fillRect/>
          </a:stretch>
        </p:blipFill>
        <p:spPr>
          <a:xfrm>
            <a:off x="1141413" y="1556273"/>
            <a:ext cx="8852441" cy="3549084"/>
          </a:xfr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592D7ED-0C6D-413E-25C8-724F6AC27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3" y="5105357"/>
            <a:ext cx="8951950" cy="1582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15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37FBF4-EF90-E871-9620-E9E153435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883920"/>
          </a:xfrm>
        </p:spPr>
        <p:txBody>
          <a:bodyPr/>
          <a:lstStyle/>
          <a:p>
            <a:r>
              <a:rPr lang="en-US" altLang="zh-TW" dirty="0"/>
              <a:t>Logic synthesis and Verification</a:t>
            </a:r>
            <a:endParaRPr lang="zh-TW" altLang="en-US" dirty="0"/>
          </a:p>
        </p:txBody>
      </p:sp>
      <p:pic>
        <p:nvPicPr>
          <p:cNvPr id="4" name="內容版面配置區 6">
            <a:extLst>
              <a:ext uri="{FF2B5EF4-FFF2-40B4-BE49-F238E27FC236}">
                <a16:creationId xmlns:a16="http://schemas.microsoft.com/office/drawing/2014/main" id="{B04C841B-2904-8381-44F1-B54C1D4F27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4763"/>
          <a:stretch>
            <a:fillRect/>
          </a:stretch>
        </p:blipFill>
        <p:spPr>
          <a:xfrm>
            <a:off x="1141413" y="1556273"/>
            <a:ext cx="8852441" cy="354908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9EDA131-C803-E63E-8CB4-6D4596407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5105357"/>
            <a:ext cx="8951950" cy="1582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191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0FB3D-9FFD-F29A-0391-FA28144D4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APR</a:t>
            </a:r>
            <a:endParaRPr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7A8D345E-3A70-142D-84EC-EE9446E227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671060" y="533185"/>
            <a:ext cx="6751320" cy="5791629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E97ACC1-627C-43ED-6A6F-F01C1D162C7C}"/>
                  </a:ext>
                </a:extLst>
              </p:cNvPr>
              <p:cNvSpPr txBox="1"/>
              <p:nvPr/>
            </p:nvSpPr>
            <p:spPr>
              <a:xfrm>
                <a:off x="1653540" y="2804160"/>
                <a:ext cx="294132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邏輯閘數量：</a:t>
                </a:r>
                <a:r>
                  <a:rPr lang="en-US" altLang="zh-TW" dirty="0"/>
                  <a:t>11558</a:t>
                </a:r>
              </a:p>
              <a:p>
                <a:r>
                  <a:rPr lang="zh-TW" altLang="en-US" dirty="0"/>
                  <a:t>面積：</a:t>
                </a:r>
                <a14:m>
                  <m:oMath xmlns:m="http://schemas.openxmlformats.org/officeDocument/2006/math">
                    <m:r>
                      <a:rPr lang="zh-TW" altLang="en-US" dirty="0" smtClean="0">
                        <a:latin typeface="Cambria Math" panose="02040503050406030204" pitchFamily="18" charset="0"/>
                      </a:rPr>
                      <m:t>0.6</m:t>
                    </m:r>
                    <m:r>
                      <a:rPr lang="zh-TW" altLang="en-US" i="1" dirty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zh-TW" alt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zh-TW" altLang="en-US" i="0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:r>
                  <a:rPr lang="zh-TW" altLang="en-US" dirty="0"/>
                  <a:t>利用率：</a:t>
                </a:r>
                <a:r>
                  <a:rPr lang="en-US" altLang="zh-TW" dirty="0"/>
                  <a:t>62.9%</a:t>
                </a:r>
              </a:p>
              <a:p>
                <a:r>
                  <a:rPr lang="zh-TW" altLang="en-US" dirty="0"/>
                  <a:t>功耗</a:t>
                </a:r>
                <a:r>
                  <a:rPr lang="en-US" altLang="zh-TW" dirty="0"/>
                  <a:t>24.5nW</a:t>
                </a:r>
                <a:endParaRPr lang="zh-TW" altLang="en-US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E97ACC1-627C-43ED-6A6F-F01C1D162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3540" y="2804160"/>
                <a:ext cx="2941320" cy="1200329"/>
              </a:xfrm>
              <a:prstGeom prst="rect">
                <a:avLst/>
              </a:prstGeom>
              <a:blipFill>
                <a:blip r:embed="rId4"/>
                <a:stretch>
                  <a:fillRect l="-1656" t="-3046" b="-76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116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5F2D9B-2F91-EFA0-0BC9-25104D390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939800"/>
          </a:xfrm>
        </p:spPr>
        <p:txBody>
          <a:bodyPr/>
          <a:lstStyle/>
          <a:p>
            <a:r>
              <a:rPr lang="zh-TW" altLang="en-US" dirty="0"/>
              <a:t>參考資料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2812FE-7F30-D8E6-9EB4-B47A5D2F0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1727199"/>
            <a:ext cx="9905998" cy="1028701"/>
          </a:xfrm>
        </p:spPr>
        <p:txBody>
          <a:bodyPr/>
          <a:lstStyle/>
          <a:p>
            <a:r>
              <a:rPr lang="en-US" altLang="zh-TW" dirty="0"/>
              <a:t>VLSI_Architecture_Design_of_Motion_Estimation_Block_with_Hexagon-Diamond_Search_Pattern_for_Real-Time_Video_Processing</a:t>
            </a:r>
            <a:endParaRPr lang="zh-TW" altLang="en-US" dirty="0"/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C637B86E-8DDA-1DE5-071E-BFFC2C1C993D}"/>
              </a:ext>
            </a:extLst>
          </p:cNvPr>
          <p:cNvSpPr txBox="1">
            <a:spLocks/>
          </p:cNvSpPr>
          <p:nvPr/>
        </p:nvSpPr>
        <p:spPr>
          <a:xfrm>
            <a:off x="1143001" y="2755900"/>
            <a:ext cx="9905998" cy="939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zh-TW" dirty="0"/>
              <a:t>GITHUB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5AFFA4EF-022E-F640-32C2-71A9CDBF3C7E}"/>
              </a:ext>
            </a:extLst>
          </p:cNvPr>
          <p:cNvSpPr txBox="1">
            <a:spLocks/>
          </p:cNvSpPr>
          <p:nvPr/>
        </p:nvSpPr>
        <p:spPr>
          <a:xfrm>
            <a:off x="1144589" y="3873499"/>
            <a:ext cx="9905998" cy="10287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https://github.com/NCHU-HSUN/Vip_Final.git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17687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2C06AE9-DDA9-877C-CC74-09951FCCA19A}"/>
              </a:ext>
            </a:extLst>
          </p:cNvPr>
          <p:cNvSpPr txBox="1"/>
          <p:nvPr/>
        </p:nvSpPr>
        <p:spPr>
          <a:xfrm>
            <a:off x="3916680" y="2537460"/>
            <a:ext cx="3877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7200" dirty="0"/>
              <a:t>感謝聆聽</a:t>
            </a:r>
          </a:p>
        </p:txBody>
      </p:sp>
    </p:spTree>
    <p:extLst>
      <p:ext uri="{BB962C8B-B14F-4D97-AF65-F5344CB8AC3E}">
        <p14:creationId xmlns:p14="http://schemas.microsoft.com/office/powerpoint/2010/main" val="23886581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226</TotalTime>
  <Words>571</Words>
  <Application>Microsoft Office PowerPoint</Application>
  <PresentationFormat>寬螢幕</PresentationFormat>
  <Paragraphs>78</Paragraphs>
  <Slides>11</Slides>
  <Notes>10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 Math</vt:lpstr>
      <vt:lpstr>Century Gothic</vt:lpstr>
      <vt:lpstr>網狀</vt:lpstr>
      <vt:lpstr>HEXDS Hexagon-Diamond Search</vt:lpstr>
      <vt:lpstr>為何選擇HEXDS演算法 在影像品質與運算複雜度提供最佳的平衡點</vt:lpstr>
      <vt:lpstr>設計規格</vt:lpstr>
      <vt:lpstr>系統架構圖</vt:lpstr>
      <vt:lpstr>HEXDS搜尋控制器</vt:lpstr>
      <vt:lpstr>品質驗證：低運算成本維持高品質影像</vt:lpstr>
      <vt:lpstr>RTL coding and Verification</vt:lpstr>
      <vt:lpstr>Logic synthesis and Verification</vt:lpstr>
      <vt:lpstr>APR</vt:lpstr>
      <vt:lpstr>參考資料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紀 國勛</dc:creator>
  <cp:lastModifiedBy>紀 國勛</cp:lastModifiedBy>
  <cp:revision>2</cp:revision>
  <dcterms:created xsi:type="dcterms:W3CDTF">2025-12-25T13:18:55Z</dcterms:created>
  <dcterms:modified xsi:type="dcterms:W3CDTF">2025-12-25T17:05:46Z</dcterms:modified>
</cp:coreProperties>
</file>